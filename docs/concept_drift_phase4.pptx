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600" b="0" i="0" u="none" strike="noStrike">
                <a:solidFill>
                  <a:srgbClr val="0B3C49"/>
                </a:solidFill>
                <a:latin typeface="+mn-lt"/>
              </a:defRPr>
            </a:pPr>
            <a:r>
              <a:rPr sz="1600" b="0" i="0" u="none" strike="noStrike">
                <a:solidFill>
                  <a:srgbClr val="0B3C49"/>
                </a:solidFill>
                <a:latin typeface="+mn-lt"/>
              </a:rPr>
              <a:t>LSTM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Online</c:v>
                </c:pt>
              </c:strCache>
            </c:strRef>
          </c:tx>
          <c:spPr>
            <a:solidFill>
              <a:srgbClr val="64748B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4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sea_abrupt</c:v>
                  </c:pt>
                  <c:pt idx="1">
                    <c:v>sea_gradual</c:v>
                  </c:pt>
                  <c:pt idx="2">
                    <c:v>hyperplane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0.949975</c:v>
                </c:pt>
                <c:pt idx="1">
                  <c:v>0.947703</c:v>
                </c:pt>
                <c:pt idx="2">
                  <c:v>0.881313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ADWIN fine-tune</c:v>
                </c:pt>
              </c:strCache>
            </c:strRef>
          </c:tx>
          <c:spPr>
            <a:solidFill>
              <a:srgbClr val="0F766E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4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sea_abrupt</c:v>
                  </c:pt>
                  <c:pt idx="1">
                    <c:v>sea_gradual</c:v>
                  </c:pt>
                  <c:pt idx="2">
                    <c:v>hyperplane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0.950555</c:v>
                </c:pt>
                <c:pt idx="1">
                  <c:v>0.947557</c:v>
                </c:pt>
                <c:pt idx="2">
                  <c:v>0.881613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ADWIN reset</c:v>
                </c:pt>
              </c:strCache>
            </c:strRef>
          </c:tx>
          <c:spPr>
            <a:solidFill>
              <a:srgbClr val="D97706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4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sea_abrupt</c:v>
                  </c:pt>
                  <c:pt idx="1">
                    <c:v>sea_gradual</c:v>
                  </c:pt>
                  <c:pt idx="2">
                    <c:v>hyperplane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0.904154</c:v>
                </c:pt>
                <c:pt idx="1">
                  <c:v>0.903212</c:v>
                </c:pt>
                <c:pt idx="2">
                  <c:v>0.694265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000" u="none">
                  <a:solidFill>
                    <a:srgbClr val="1B243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43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.6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4748B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B2430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600" b="0" i="0" u="none" strike="noStrike">
                <a:solidFill>
                  <a:srgbClr val="0B3C49"/>
                </a:solidFill>
                <a:latin typeface="+mn-lt"/>
              </a:defRPr>
            </a:pPr>
            <a:r>
              <a:rPr sz="1600" b="0" i="0" u="none" strike="noStrike">
                <a:solidFill>
                  <a:srgbClr val="0B3C49"/>
                </a:solidFill>
                <a:latin typeface="+mn-lt"/>
              </a:rPr>
              <a:t>GRU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Online</c:v>
                </c:pt>
              </c:strCache>
            </c:strRef>
          </c:tx>
          <c:spPr>
            <a:solidFill>
              <a:srgbClr val="64748B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4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sea_abrupt</c:v>
                  </c:pt>
                  <c:pt idx="1">
                    <c:v>sea_gradual</c:v>
                  </c:pt>
                  <c:pt idx="2">
                    <c:v>hyperplane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0.94429</c:v>
                </c:pt>
                <c:pt idx="1">
                  <c:v>0.940588</c:v>
                </c:pt>
                <c:pt idx="2">
                  <c:v>0.87763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ADWIN fine-tune</c:v>
                </c:pt>
              </c:strCache>
            </c:strRef>
          </c:tx>
          <c:spPr>
            <a:solidFill>
              <a:srgbClr val="0F766E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4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sea_abrupt</c:v>
                  </c:pt>
                  <c:pt idx="1">
                    <c:v>sea_gradual</c:v>
                  </c:pt>
                  <c:pt idx="2">
                    <c:v>hyperplane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0.94411</c:v>
                </c:pt>
                <c:pt idx="1">
                  <c:v>0.940479</c:v>
                </c:pt>
                <c:pt idx="2">
                  <c:v>0.878391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ADWIN reset</c:v>
                </c:pt>
              </c:strCache>
            </c:strRef>
          </c:tx>
          <c:spPr>
            <a:solidFill>
              <a:srgbClr val="D97706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4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sea_abrupt</c:v>
                  </c:pt>
                  <c:pt idx="1">
                    <c:v>sea_gradual</c:v>
                  </c:pt>
                  <c:pt idx="2">
                    <c:v>hyperplane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0.903293</c:v>
                </c:pt>
                <c:pt idx="1">
                  <c:v>0.900428</c:v>
                </c:pt>
                <c:pt idx="2">
                  <c:v>0.718046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000" u="none">
                  <a:solidFill>
                    <a:srgbClr val="1B243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43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.6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4748B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B2430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Opening. Scope is the Phase 4 ablation under results/phase4/phase4_20260929_233350 (README, Phase 4 scope). Claims are descriptive within this benchmark.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Framing from README "Problem formulation and concept drift" and "Prequential evaluation". The third point motivates the Phase 4 question: whether ADWIN-triggered adaptation helps or hurts recurrent online learners.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Datasets and parameters from phase4.yaml. All three use label_delay 0. Real-world streams from Phase 3 are out of scope for Phase 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Policy definitions from README "Compared strategies" and "Recurrent model details". Recovery is only defined against supplied drift indices and uses a 200-sample evaluation interval, so it is coarse.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count: 3 datasets x 14 conditions x 5 seeds = 210, matching expected_runs in phase4.yaml and the README. Condition count: 2 online + 12 detector conditions (2 architectures x 2 policies x 3 deltas).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values are condition means over five matched seeds from observations.txt. Detection means (delta 0.002): lstm_adwin_reset 7.4 (abrupt), 7.6 (gradual), 15.8 (hyperplane); lstm_adwin_finetune 2.0, 2.2, 1.8. Other deltas show the same ordering.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Computed from adaptation_policy_effect.csv, metric = accuracy: 18 online-&gt;reset contrasts, mean differences from -0.0354 to -0.1930, all CIs exclude zero, raw p = 0.0625 for all (the smallest possible exact two-sided Wilcoxon p with n = 5). 18 online-&gt;finetune contrasts: mean differences from -0.0020 to +0.0012, all CIs include zero. The mechanism ("model still useful") is the README interpretation, not a tested causal claim.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Architecture (GRU minus LSTM) accuracy: online -0.0037 to -0.0071; fine-tune -0.0026 to -0.0077; reset mixed from +0.0298 (hyperplane, d=0.005) to -0.0055. The small architecture difference is the claim; note GRU is consistently slightly lower under online and fine-tune, and that the reset context differs. Detector: CIs excluding zero counted from detector_sensitivity_effect.csv accuracy rows (reset 5 of 18; fine-tune 1 of 18).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Counts from observations.txt: 21 architecture, 54 adaptation-policy, 36 detector-sensitivity accuracy tests, none with raw or Holm p &lt; 0.05. Minimum raw p across all four CSVs is 0.0625; minimum Holm-adjusted p is 1.0. Source note: "Five pairs provide low power; p-values are reported without broad significance claims."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Recommendations beyond the data (gating reset, confirm window) are proposals for future work, not results. The README states fine-tuning is safer than reset but its gains are small.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B3C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ADCD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ADCD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1887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7FD1C7"/>
                </a:solidFill>
              </a:rPr>
              <a:t>PHASE 4 ABLATION  |  ADVANCED MACHINE LEARNING (CE29T/CE29P)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737360"/>
            <a:ext cx="9601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Does ADWIN-Triggered Intervention Help Recurrent Online Learners?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65760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DD"/>
                </a:solidFill>
              </a:rPr>
              <a:t>A controlled LSTM/GRU and detector-sensitivity study on synthetic drifting streams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51206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B45A"/>
                </a:solidFill>
              </a:rPr>
              <a:t>210 runs  ·  3 streams  ·  14 conditions  ·  5 matched seeds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ADCD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Drift Matters in Streaming ML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models face data whose label relationship changes over time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3429000" cy="3566160"/>
          </a:xfrm>
          <a:prstGeom prst="roundRect">
            <a:avLst>
              <a:gd name="adj" fmla="val 21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48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92608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Drift degrades models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3474720"/>
            <a:ext cx="2880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Concept drift is a change in the feature-label relationship that can reduce the usefulness of a model learned earlier.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343400" y="1920240"/>
            <a:ext cx="3429000" cy="3566160"/>
          </a:xfrm>
          <a:prstGeom prst="roundRect">
            <a:avLst>
              <a:gd name="adj" fmla="val 21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617720" y="2148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600" dirty="0"/>
          </a:p>
        </p:txBody>
      </p:sp>
      <p:sp>
        <p:nvSpPr>
          <p:cNvPr id="10" name="Text 8"/>
          <p:cNvSpPr txBox="1"/>
          <p:nvPr/>
        </p:nvSpPr>
        <p:spPr>
          <a:xfrm>
            <a:off x="4617720" y="292608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Labels arrive online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4617720" y="3474720"/>
            <a:ext cx="2880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Predictions are made first, then learned from once labels are revealed (test-then-train), so adaptation must be cheap and causal.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046720" y="1920240"/>
            <a:ext cx="3429000" cy="3566160"/>
          </a:xfrm>
          <a:prstGeom prst="roundRect">
            <a:avLst>
              <a:gd name="adj" fmla="val 21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21040" y="2148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600" dirty="0"/>
          </a:p>
        </p:txBody>
      </p:sp>
      <p:sp>
        <p:nvSpPr>
          <p:cNvPr id="14" name="Text 12"/>
          <p:cNvSpPr txBox="1"/>
          <p:nvPr/>
        </p:nvSpPr>
        <p:spPr>
          <a:xfrm>
            <a:off x="8321040" y="292608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Detectors can misfire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8321040" y="3474720"/>
            <a:ext cx="2880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Detector-triggered intervention is only useful if it acts when the model is actually failing; otherwise it discards useful knowledge.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4008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Source: README (Problem formulation; Prequential evaluation and label timing)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 and Datasets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isolates architecture and detector sensitivity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120640" cy="4389120"/>
          </a:xfrm>
          <a:prstGeom prst="roundRect">
            <a:avLst>
              <a:gd name="adj" fmla="val 1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1874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questions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423160"/>
            <a:ext cx="45720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Does ADWIN-triggered adaptation help recurrent online learners?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Does the answer depend on LSTM vs GRU?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Does ADWIN sensitivity (delta) change the answer?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Fixed stream setup and learner structure; only policy, architecture, delta vary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217920" y="1737360"/>
            <a:ext cx="5330952" cy="1371600"/>
          </a:xfrm>
          <a:prstGeom prst="roundRect">
            <a:avLst>
              <a:gd name="adj" fmla="val 5333"/>
            </a:avLst>
          </a:prstGeom>
          <a:solidFill>
            <a:srgbClr val="E3EDEC"/>
          </a:solidFill>
          <a:ln w="12700">
            <a:solidFill>
              <a:srgbClr val="E3EDE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46520" y="184708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sea_abrupt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8869680" y="184708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Known drift index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446520" y="2286000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SEA concepts, variants [3, 2], 5,000 samples per concept; abrupt switch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217920" y="3246120"/>
            <a:ext cx="5330952" cy="1371600"/>
          </a:xfrm>
          <a:prstGeom prst="roundRect">
            <a:avLst>
              <a:gd name="adj" fmla="val 5333"/>
            </a:avLst>
          </a:prstGeom>
          <a:solidFill>
            <a:srgbClr val="E3EDEC"/>
          </a:solidFill>
          <a:ln w="12700">
            <a:solidFill>
              <a:srgbClr val="E3EDE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46520" y="335584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sea_gradual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8869680" y="335584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Midpoint convention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446520" y="3794760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SEA with 1,000-sample probabilistic transition; 5,000 per concept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217920" y="4754880"/>
            <a:ext cx="5330952" cy="1371600"/>
          </a:xfrm>
          <a:prstGeom prst="roundRect">
            <a:avLst>
              <a:gd name="adj" fmla="val 5333"/>
            </a:avLst>
          </a:prstGeom>
          <a:solidFill>
            <a:srgbClr val="E3EDEC"/>
          </a:solidFill>
          <a:ln w="12700">
            <a:solidFill>
              <a:srgbClr val="E3EDE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46520" y="48646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hyperplane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8869680" y="486460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No discrete index: recovery n/a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446520" y="5303520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Rotating hyperplane, 10,000 samples, 10 features, 5 drifting, mag_change 0.001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64008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Source: README (Phase 4 scope; Datasets); configs/phase4.yaml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Methodology: Models and Adaptation Policies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recurrent learner; only the reaction to ADWIN differs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3429000" cy="228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965960"/>
            <a:ext cx="502920" cy="5029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19659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Online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697480"/>
            <a:ext cx="2880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No detector. Adam update (lr 0.01), one gradient step per revealed label.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43400" y="1737360"/>
            <a:ext cx="3429000" cy="228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17720" y="196596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1772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5257800" y="19659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ADWIN + reset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4617720" y="2697480"/>
            <a:ext cx="2880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On detection, the model is reinitialized using the run seed.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046720" y="1737360"/>
            <a:ext cx="3429000" cy="228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21040" y="196596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2104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8961120" y="19659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ADWIN + fine-tune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8321040" y="2697480"/>
            <a:ext cx="2880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On detection, replay up to 32 previously revealed sequences from a bounded buffer.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4297680"/>
            <a:ext cx="1090879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Learner: one-layer LSTM or GRU, hidden size 16, causal rolling sequence length 10, linear 2-class head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Prequential (test-then-train): predict, score when the label is revealed, feed error to ADWIN, adapt if triggered, then update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ADWIN receives binary prediction error; clock = 32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Metrics: accuracy, macro-F1, runtime, detections; recovery = samples to regain pre-drift accuracy minus 0.02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64008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Source: README (Recurrent model details; Drift detection and adaptation; Metrics and recovery definition); phase4.yaml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Exact Experimental Design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datasets × 14 conditions × 5 seeds = 210 runs</a:t>
            </a:r>
            <a:endParaRPr lang="en-US" sz="1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37360"/>
          <a:ext cx="676656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493776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Factor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Levels (phase4.yaml)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430"/>
                          </a:solidFill>
                        </a:rPr>
                        <a:t>Datasets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</a:rPr>
                        <a:t>sea_abrupt, sea_gradual, hyperplane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430"/>
                          </a:solidFill>
                        </a:rPr>
                        <a:t>Architecture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</a:rPr>
                        <a:t>lstm, gru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430"/>
                          </a:solidFill>
                        </a:rPr>
                        <a:t>Policy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</a:rPr>
                        <a:t>online (no detector), adwin_reset, adwin_finetune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430"/>
                          </a:solidFill>
                        </a:rPr>
                        <a:t>ADWIN delta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</a:rPr>
                        <a:t>0.001, 0.002, 0.005 (clock 32); not applicable to online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430"/>
                          </a:solidFill>
                        </a:rPr>
                        <a:t>Seeds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</a:rPr>
                        <a:t>42, 43, 44, 45, 46 (matched across conditions)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430"/>
                          </a:solidFill>
                        </a:rPr>
                        <a:t>Conditions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</a:rPr>
                        <a:t>2 × (1 online + 2 policies × 3 deltas) = 14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430"/>
                          </a:solidFill>
                        </a:rPr>
                        <a:t>Evaluation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</a:rPr>
                        <a:t>eval_every 200; recovery_tolerance 0.02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772400" y="1737360"/>
            <a:ext cx="3776472" cy="4023360"/>
          </a:xfrm>
          <a:prstGeom prst="roundRect">
            <a:avLst>
              <a:gd name="adj" fmla="val 193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046720" y="18745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Statistical protocol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8046720" y="2377440"/>
            <a:ext cx="32918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Paired Wilcoxon signed-rank, two-sided, on matched seeds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95% two-sided t interval on paired differences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Effect size: paired rank-biserial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Holm step-down within family × metric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64008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Source: configs/phase4.yaml; observations.txt (Statistical results); paired_comparisons.csv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Descriptive Results: Reset Falls Far Behind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accuracy over 5 seeds, ADWIN delta = 0.002</a:t>
            </a:r>
            <a:endParaRPr lang="en-US" sz="1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554480"/>
          <a:ext cx="539496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6172200" y="1554480"/>
          <a:ext cx="539496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 2"/>
          <p:cNvSpPr txBox="1"/>
          <p:nvPr/>
        </p:nvSpPr>
        <p:spPr>
          <a:xfrm>
            <a:off x="640080" y="5623560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Value axis starts at 0.6. Reset: 7.4 / 7.6 / 15.8 mean detections (LSTM) vs 2.0 / 2.2 / 1.8 for fine-tune on sea_abrupt / sea_gradual / hyperplane.</a:t>
            </a:r>
            <a:endParaRPr lang="en-US" sz="1400" dirty="0"/>
          </a:p>
        </p:txBody>
      </p:sp>
      <p:sp>
        <p:nvSpPr>
          <p:cNvPr id="7" name="Text 3"/>
          <p:cNvSpPr txBox="1"/>
          <p:nvPr/>
        </p:nvSpPr>
        <p:spPr>
          <a:xfrm>
            <a:off x="640080" y="64008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Source: observations.txt (Descriptive results); plot_accuracy.csv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Statistical Finding: Adaptation Policy Dominates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Paired accuracy differences across datasets, architectures and deltas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342900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87452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 / 18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60604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online-to-reset contrasts are negative (rank-biserial = −1.0)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343400" y="1737360"/>
            <a:ext cx="342900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26280" y="187452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−3.5 to −19.3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4526280" y="260604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points: mean accuracy change from online to reset; all 95% CIs exclude 0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046720" y="1737360"/>
            <a:ext cx="342900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0" y="187452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|Δ| ≤ 0.2 pt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0" y="260604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online vs fine-tune; all 18 CIs include 0, effect signs mixed (10 negative)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3611880"/>
            <a:ext cx="10908792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Reset loss by stream (online to reset): hyperplane −14.8 to −19.3 pts; sea_abrupt −3.6 to −5.2 pts; sea_gradual −3.5 to −5.3 pts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Fine-tune beats reset by +3.4 to +19.3 pts in all 18 contrasts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Same direction for LSTM and GRU, and for every delta tested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Reset triggers more often than fine-tune, so the model is reinitialized while still useful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64008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Source: adaptation_policy_effect.csv (accuracy rows, n = 5 pairs each); observations.txt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and Detector Sensitivity Are Second-Order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effects are small next to the choice of policy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349240" cy="4480560"/>
          </a:xfrm>
          <a:prstGeom prst="roundRect">
            <a:avLst>
              <a:gd name="adj" fmla="val 16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18745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LSTM vs GRU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423160"/>
            <a:ext cx="48463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Online and fine-tune: GRU is 0.3 to 0.8 pt lower in accuracy, consistent in sign across datasets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Reset: sign varies by stream and delta (GRU +2.4 to +3.0 pts on hyperplane, near 0 on SEA)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0 of 21 architecture accuracy tests reach raw p &lt; 0.05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GRU ran faster on hyperplane (about 5 to 6 s); runtime on SEA is noisy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199632" y="1737360"/>
            <a:ext cx="5349240" cy="4480560"/>
          </a:xfrm>
          <a:prstGeom prst="roundRect">
            <a:avLst>
              <a:gd name="adj" fmla="val 16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73952" y="18745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ADWIN delta (0.001 / 0.002 / 0.005)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6473952" y="2423160"/>
            <a:ext cx="48463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Fine-tune: accuracy differences between deltas are at most 0.18 pt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Reset: larger delta tends to lower accuracy (up to −1.7 pts), but only 5 of 18 contrasts have CIs excluding 0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More detections at larger delta, e.g. LSTM reset on hyperplane 14.6 to 17.2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No universal best delta; 0 of 36 detector accuracy tests reach raw p &lt; 0.05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64008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Source: architecture_effect.csv; detector_sensitivity_effect.csv; observations.txt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Interpret With Caution: n = 5 Matched Seeds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3429000" cy="2011680"/>
          </a:xfrm>
          <a:prstGeom prst="roundRect">
            <a:avLst>
              <a:gd name="adj" fmla="val 3636"/>
            </a:avLst>
          </a:prstGeom>
          <a:solidFill>
            <a:srgbClr val="12505F"/>
          </a:solidFill>
          <a:ln w="12700">
            <a:solidFill>
              <a:srgbClr val="12505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68680" y="160020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2B4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/ 111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46888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6EEF0"/>
                </a:solidFill>
              </a:rPr>
              <a:t>paired accuracy tests with raw p &lt; 0.05 or Holm-adjusted p &lt; 0.05 (21 + 54 + 36)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343400" y="1463040"/>
            <a:ext cx="3429000" cy="2011680"/>
          </a:xfrm>
          <a:prstGeom prst="roundRect">
            <a:avLst>
              <a:gd name="adj" fmla="val 3636"/>
            </a:avLst>
          </a:prstGeom>
          <a:solidFill>
            <a:srgbClr val="12505F"/>
          </a:solidFill>
          <a:ln w="12700">
            <a:solidFill>
              <a:srgbClr val="12505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0" y="160020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2B4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0.0625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4572000" y="246888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6EEF0"/>
                </a:solidFill>
              </a:rPr>
              <a:t>smallest attainable two-sided exact Wilcoxon p with 5 pairs; seen in every strong effect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046720" y="1463040"/>
            <a:ext cx="3429000" cy="2011680"/>
          </a:xfrm>
          <a:prstGeom prst="roundRect">
            <a:avLst>
              <a:gd name="adj" fmla="val 3636"/>
            </a:avLst>
          </a:prstGeom>
          <a:solidFill>
            <a:srgbClr val="12505F"/>
          </a:solidFill>
          <a:ln w="12700">
            <a:solidFill>
              <a:srgbClr val="12505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75320" y="160020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2B4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1.0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8275320" y="246888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6EEF0"/>
                </a:solidFill>
              </a:rPr>
              <a:t>Holm-adjusted p for the strongest contrasts within their family × metric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3840480"/>
            <a:ext cx="1090879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Read p-values together with effect size and CI.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Consistent sign across all 18 contrasts and CIs that exclude zero make the reset penalty credible for this benchmark; they are not significance claims.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Differences under 1 pt (architecture, delta, fine-tune vs online) are within noise at this sample size.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Recovery uses a coarse 200-sample grid and is not applicable to hyperplane, so it is not used as primary evidence.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ADCD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Conclusions and Recommendations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this benchmark; not universal rankings or causal claims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349240" cy="4480560"/>
          </a:xfrm>
          <a:prstGeom prst="roundRect">
            <a:avLst>
              <a:gd name="adj" fmla="val 16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18745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Conclusions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423160"/>
            <a:ext cx="48463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Online LSTM/GRU is a strong baseline on all three streams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ADWIN reset is too aggressive: lower accuracy in all 18 contrasts, by 3.5 to 19.3 pts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Fine-tune is a safe detector policy, but gains over online are at most about 0.1 pt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LSTM vs GRU and delta effects are small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199632" y="1737360"/>
            <a:ext cx="5349240" cy="4480560"/>
          </a:xfrm>
          <a:prstGeom prst="roundRect">
            <a:avLst>
              <a:gd name="adj" fmla="val 16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73952" y="18745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work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6473952" y="2423160"/>
            <a:ext cx="48463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Use online or fine-tune policies by default; avoid full reset for recurrent learners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Test gating reset on stronger evidence, such as a confirmation window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Add seeds or stream replicates to raise power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Use finer evaluation intervals for recovery; test real-world streams with caution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64008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Source: README (Phase 4 interpretation); observations.txt; effect CSVs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riftDefense">
  <a:themeElements>
    <a:clrScheme name="DriftDefense">
      <a:dk1>
        <a:srgbClr val="1B2430"/>
      </a:dk1>
      <a:lt1>
        <a:srgbClr val="FFFFFF"/>
      </a:lt1>
      <a:dk2>
        <a:srgbClr val="0B3C49"/>
      </a:dk2>
      <a:lt2>
        <a:srgbClr val="EEF3F4"/>
      </a:lt2>
      <a:accent1>
        <a:srgbClr val="0F766E"/>
      </a:accent1>
      <a:accent2>
        <a:srgbClr val="D97706"/>
      </a:accent2>
      <a:accent3>
        <a:srgbClr val="64748B"/>
      </a:accent3>
      <a:accent4>
        <a:srgbClr val="7C9A92"/>
      </a:accent4>
      <a:accent5>
        <a:srgbClr val="B45309"/>
      </a:accent5>
      <a:accent6>
        <a:srgbClr val="334155"/>
      </a:accent6>
      <a:hlink>
        <a:srgbClr val="0F766E"/>
      </a:hlink>
      <a:folHlink>
        <a:srgbClr val="64748B"/>
      </a:folHlink>
    </a:clrScheme>
    <a:fontScheme name="DriftDefens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Concept Drift Adaptation for Recurrent Online Learners: Phase 4 Ablation</dc:title>
  <dc:subject>PptxGenJS Presentation</dc:subject>
  <dc:creator>PptxGenJS</dc:creator>
  <cp:lastModifiedBy>PptxGenJS</cp:lastModifiedBy>
  <cp:revision>1</cp:revision>
  <dcterms:created xsi:type="dcterms:W3CDTF">2026-10-13T19:00:03Z</dcterms:created>
  <dcterms:modified xsi:type="dcterms:W3CDTF">2026-10-13T19:00:03Z</dcterms:modified>
</cp:coreProperties>
</file>